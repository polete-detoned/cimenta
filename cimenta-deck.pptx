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Cimenta: marketplace de licitaciones privadas de obra. Dos roles, un mismo expediente.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etapas del expediente: publicar, desbloquear, ofertar, adjudicar.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navegación cambia con el rol: el constructor oferta, el promotor audita.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 de licitaciones: métricas clave, barra de cupo y CTA de desbloqueo.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Room: planos con marca de agua, fee de 500 € reembolsable al presentar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.BC3 importado rellena precio unitario, importe, marca y ficha; el total y la desviación se recalculan solos.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Semáforo por partida: verde mejor precio, ámbar ajustado, rojo peor precio. La baja temeraria se avisa aparte.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adjudicación con contrato y firma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361950" cy="361950"/>
          </a:xfrm>
          <a:prstGeom prst="roundRect">
            <a:avLst>
              <a:gd name="adj" fmla="val 13158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6825" y="103822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57350" y="971550"/>
            <a:ext cx="13234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CIMENTA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012877" y="942975"/>
            <a:ext cx="1297335" cy="304800"/>
          </a:xfrm>
          <a:prstGeom prst="roundRect">
            <a:avLst>
              <a:gd name="adj" fmla="val 18750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27177" y="1000125"/>
            <a:ext cx="11449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AECO · BETA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43000" y="3533031"/>
            <a:ext cx="13735050" cy="205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43"/>
              </a:lnSpc>
              <a:buNone/>
            </a:pPr>
            <a:r>
              <a:rPr lang="en-US" sz="7800" b="1" spc="-27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de licitaciones privadas de obra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143000" y="5858619"/>
            <a:ext cx="1059561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interfaz para promotores, arquitectos y constructoras: publicación de proyecto, data room protegido, oferta partida a partida y adjudicación auditada.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43000" y="8972550"/>
            <a:ext cx="1101179" cy="400050"/>
          </a:xfrm>
          <a:prstGeom prst="roundRect">
            <a:avLst>
              <a:gd name="adj" fmla="val 14286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925" y="9067800"/>
            <a:ext cx="8535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vistas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2377529" y="8972550"/>
            <a:ext cx="1003995" cy="400050"/>
          </a:xfrm>
          <a:prstGeom prst="roundRect">
            <a:avLst>
              <a:gd name="adj" fmla="val 14286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9454" y="9067800"/>
            <a:ext cx="7563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roles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3514874" y="8972550"/>
            <a:ext cx="1781175" cy="400050"/>
          </a:xfrm>
          <a:prstGeom prst="roundRect">
            <a:avLst>
              <a:gd name="adj" fmla="val 14286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6799" y="9067800"/>
            <a:ext cx="1533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FIEBDC-3 · .BC3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EXPEDIENTE, DE PRINCIPIO A FIN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17602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etapas, un mismo dato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05100"/>
            <a:ext cx="3800475" cy="6667500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3057525"/>
            <a:ext cx="34890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E40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457325" y="3438525"/>
            <a:ext cx="34890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57325" y="3895725"/>
            <a:ext cx="326698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promotor sube proyecto, pliego y mediciones, y fija plazo y presupuesto base.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57325" y="8820150"/>
            <a:ext cx="32669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PROMOTOR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0175" y="2705100"/>
            <a:ext cx="3800475" cy="6667500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0" y="3057525"/>
            <a:ext cx="34890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E40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524500" y="3438525"/>
            <a:ext cx="34890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Desbloquear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524500" y="3895725"/>
            <a:ext cx="326698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constructora paga el fee reembolsable y accede al data room íntegro.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24500" y="8820150"/>
            <a:ext cx="32669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500 € · REEMBOLSABLE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77350" y="2705100"/>
            <a:ext cx="3800475" cy="6667500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91675" y="3057525"/>
            <a:ext cx="34890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E40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591675" y="3438525"/>
            <a:ext cx="34890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91675" y="3895725"/>
            <a:ext cx="326698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partida a partida sobre la medición ciega, con marca y ficha técnica obligatorias.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91675" y="8820150"/>
            <a:ext cx="32669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.BC3 · FIEBDC-3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344525" y="2705100"/>
            <a:ext cx="3800475" cy="6667500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8850" y="3057525"/>
            <a:ext cx="34890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E40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3658850" y="3438525"/>
            <a:ext cx="34890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Adjudicar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658850" y="3895725"/>
            <a:ext cx="32669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comparativa auditable y contrato con firma digital.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658850" y="8820150"/>
            <a:ext cx="32669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ARQUITECTURA DE NAVEGACIÓN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17602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interfaces sobre el mismo expediente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28900"/>
            <a:ext cx="7829550" cy="67437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71500" dist="228600" dir="5400000">
              <a:srgbClr val="0F172A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0675" y="3090863"/>
            <a:ext cx="533400" cy="533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716584" y="3252788"/>
            <a:ext cx="35778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276475" y="3057525"/>
            <a:ext cx="222401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76475" y="3448050"/>
            <a:ext cx="22240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y firma la oferta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590675" y="3943350"/>
            <a:ext cx="1389013" cy="40005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1762125" y="4038600"/>
            <a:ext cx="11223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Licitaciones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3093988" y="3943350"/>
            <a:ext cx="1258342" cy="40005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65438" y="4038600"/>
            <a:ext cx="99164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4466630" y="3943350"/>
            <a:ext cx="1640681" cy="40005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638080" y="4038600"/>
            <a:ext cx="13739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de ofertas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590675" y="4752975"/>
            <a:ext cx="85725" cy="85725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1809750" y="4648200"/>
            <a:ext cx="459880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filtrado por provincia y estado de licencia.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590675" y="5205413"/>
            <a:ext cx="85725" cy="85725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809750" y="5100638"/>
            <a:ext cx="48070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Desbloqueo del data room con fee reembolsable.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590675" y="5657850"/>
            <a:ext cx="85725" cy="85725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1809750" y="5553075"/>
            <a:ext cx="533222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de .BC3 y cálculo automático de importes.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315450" y="2628900"/>
            <a:ext cx="7829550" cy="67437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71500" dist="228600" dir="5400000">
              <a:srgbClr val="0F172A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63125" y="3090863"/>
            <a:ext cx="533400" cy="5334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9899005" y="3252788"/>
            <a:ext cx="3376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0448925" y="3057525"/>
            <a:ext cx="33113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Promotor / Arquitecto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448925" y="3448050"/>
            <a:ext cx="33113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Publica, audita y adjudica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763125" y="3943350"/>
            <a:ext cx="1389013" cy="40005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934575" y="4038600"/>
            <a:ext cx="11223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Licitaciones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1266438" y="3943350"/>
            <a:ext cx="1258342" cy="40005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7888" y="4038600"/>
            <a:ext cx="99164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2639080" y="3943350"/>
            <a:ext cx="1871663" cy="40005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12810530" y="4038600"/>
            <a:ext cx="16049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comparativa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9763125" y="4752975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9982200" y="4648200"/>
            <a:ext cx="54425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del presupuesto base, superficie, plazo y cierre.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763125" y="5205413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35" name="Text 33"/>
          <p:cNvSpPr/>
          <p:nvPr/>
        </p:nvSpPr>
        <p:spPr>
          <a:xfrm>
            <a:off x="9982200" y="5100638"/>
            <a:ext cx="63726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de planos, pliego y mediciones con aviso a las ofertantes.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9763125" y="5657850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37" name="Text 35"/>
          <p:cNvSpPr/>
          <p:nvPr/>
        </p:nvSpPr>
        <p:spPr>
          <a:xfrm>
            <a:off x="9982200" y="5553075"/>
            <a:ext cx="56873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partida a partida y adjudicación con contrato.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12554"/>
            <a:ext cx="64960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01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143000" y="3193554"/>
            <a:ext cx="64960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13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de licitaciones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4060329"/>
            <a:ext cx="6082665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privadas con proyecto de ejecución verificado. Cada tarjeta resume el encargo en tres métricas y expone la escasez de plazas.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143000" y="5564535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1362075" y="5459760"/>
            <a:ext cx="58570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16:9 con estado de licencia y badge de verificación técnica.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1143000" y="6336060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362075" y="6231285"/>
            <a:ext cx="57637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métricas: presupuesto objetivo, superficie y ratio €/m².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1143000" y="6807547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1362075" y="6702772"/>
            <a:ext cx="54672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cupo: 3 de 5 plazas cubiertas, cierre en 4 días.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143000" y="7279035"/>
            <a:ext cx="85725" cy="85725"/>
          </a:xfrm>
          <a:prstGeom prst="roundRect">
            <a:avLst>
              <a:gd name="adj" fmla="val 33333"/>
            </a:avLst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7174260"/>
            <a:ext cx="58060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de desbloqueo con estados de carga y cupo completo.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7810500" y="2376488"/>
            <a:ext cx="9353550" cy="5533876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66750" dist="304800" dir="5400000">
              <a:srgbClr val="0F172A">
                <a:alpha val="5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70" r="70" t="0" b="0"/>
          <a:stretch/>
        </p:blipFill>
        <p:spPr>
          <a:xfrm>
            <a:off x="7810500" y="2376488"/>
            <a:ext cx="9353550" cy="5533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376488"/>
            <a:ext cx="9353550" cy="5533876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66750" dist="304800" dir="5400000">
              <a:srgbClr val="0F172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70" r="70" t="0" b="0"/>
          <a:stretch/>
        </p:blipFill>
        <p:spPr>
          <a:xfrm>
            <a:off x="1143000" y="2376488"/>
            <a:ext cx="9353550" cy="55338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39500" y="2300585"/>
            <a:ext cx="64960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02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11239500" y="2681585"/>
            <a:ext cx="64960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13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 protegido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11239500" y="3548360"/>
            <a:ext cx="6082665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y mediciones se muestran con marca de agua hasta el desbloqueo. El promotor edita aquí los datos que verán las constructoras.</a:t>
            </a:r>
            <a:endParaRPr lang="en-US" sz="1725" dirty="0"/>
          </a:p>
        </p:txBody>
      </p:sp>
      <p:sp>
        <p:nvSpPr>
          <p:cNvPr id="7" name="Shape 4"/>
          <p:cNvSpPr/>
          <p:nvPr/>
        </p:nvSpPr>
        <p:spPr>
          <a:xfrm>
            <a:off x="11239500" y="4909691"/>
            <a:ext cx="590550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534775" y="5338316"/>
            <a:ext cx="1504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de acceso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15347007" y="5185916"/>
            <a:ext cx="165298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500,00 €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534775" y="5728841"/>
            <a:ext cx="5314950" cy="800100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96700" y="5871716"/>
            <a:ext cx="51505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fee se devuelve automáticamente a tu balance al presentar la oferta técnica antes del plazo.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239500" y="7071866"/>
            <a:ext cx="2326035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82375" y="7167116"/>
            <a:ext cx="21164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Mediciones_Ciegas.bc3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13679835" y="7071866"/>
            <a:ext cx="222885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22710" y="7167116"/>
            <a:ext cx="2019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Planos_Ejecucion.pdf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11239500" y="7586216"/>
            <a:ext cx="242322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82375" y="7681466"/>
            <a:ext cx="22136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Pliego_Condiciones.pdf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38698"/>
            <a:ext cx="64960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03 · CONSTRUCTOR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143000" y="2819698"/>
            <a:ext cx="608266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13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de ofertas partida a partida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4286548"/>
            <a:ext cx="6082665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Capítulos colapsables sobre la medición ciega del promotor. La constructora sube su .BC3 valorado y la plataforma calcula precio unitario e importe de cada partida.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143000" y="5647879"/>
            <a:ext cx="5905500" cy="2200275"/>
          </a:xfrm>
          <a:prstGeom prst="roundRect">
            <a:avLst>
              <a:gd name="adj" fmla="val 6061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525" y="5657404"/>
            <a:ext cx="2938463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1400175" y="5886004"/>
            <a:ext cx="268747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00175" y="6324154"/>
            <a:ext cx="2687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Partidas importadas del .BC3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100513" y="5657404"/>
            <a:ext cx="2938463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348163" y="5886004"/>
            <a:ext cx="268747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348163" y="6324154"/>
            <a:ext cx="2687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por partida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52525" y="6752779"/>
            <a:ext cx="2938463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400175" y="6981379"/>
            <a:ext cx="268747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0,00 €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00175" y="7419529"/>
            <a:ext cx="2687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inicial sin importar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4100513" y="6752779"/>
            <a:ext cx="2938463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348163" y="6981379"/>
            <a:ext cx="268747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−4,2 %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348163" y="7419529"/>
            <a:ext cx="26874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Desviación sobre el PBL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7810500" y="2376488"/>
            <a:ext cx="9353550" cy="5533876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66750" dist="304800" dir="5400000">
              <a:srgbClr val="0F172A">
                <a:alpha val="5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70" r="70" t="0" b="0"/>
          <a:stretch/>
        </p:blipFill>
        <p:spPr>
          <a:xfrm>
            <a:off x="7810500" y="2376488"/>
            <a:ext cx="9353550" cy="5533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297757"/>
            <a:ext cx="9620250" cy="5691485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66750" dist="304800" dir="5400000">
              <a:srgbClr val="0F172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8" r="68" t="0" b="0"/>
          <a:stretch/>
        </p:blipFill>
        <p:spPr>
          <a:xfrm>
            <a:off x="1143000" y="2297757"/>
            <a:ext cx="9620250" cy="56914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0" y="2286298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04 · PROMOTOR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11430000" y="2667298"/>
            <a:ext cx="6286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13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comparativa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11430000" y="3534073"/>
            <a:ext cx="588645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columna es una constructora y cada fila una partida. El color se calcula por ranking de precio dentro de la partida.</a:t>
            </a:r>
            <a:endParaRPr lang="en-US" sz="1725" dirty="0"/>
          </a:p>
        </p:txBody>
      </p:sp>
      <p:sp>
        <p:nvSpPr>
          <p:cNvPr id="7" name="Shape 4"/>
          <p:cNvSpPr/>
          <p:nvPr/>
        </p:nvSpPr>
        <p:spPr>
          <a:xfrm>
            <a:off x="11430000" y="4876354"/>
            <a:ext cx="5715000" cy="552450"/>
          </a:xfrm>
          <a:prstGeom prst="roundRect">
            <a:avLst>
              <a:gd name="adj" fmla="val 2069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30025" y="5095429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11877675" y="5038279"/>
            <a:ext cx="11767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precio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59200" y="5047804"/>
            <a:ext cx="5619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0596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Verde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11430000" y="5562154"/>
            <a:ext cx="5715000" cy="552450"/>
          </a:xfrm>
          <a:prstGeom prst="roundRect">
            <a:avLst>
              <a:gd name="adj" fmla="val 2069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30025" y="5781229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11877675" y="5724079"/>
            <a:ext cx="15167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ajustado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59200" y="5733604"/>
            <a:ext cx="5619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Ámbar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1430000" y="6247954"/>
            <a:ext cx="5715000" cy="552450"/>
          </a:xfrm>
          <a:prstGeom prst="roundRect">
            <a:avLst>
              <a:gd name="adj" fmla="val 20690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30025" y="6467029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11877675" y="6409879"/>
            <a:ext cx="10990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Peor precio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56236" y="6419404"/>
            <a:ext cx="4649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Rojo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11430000" y="7124254"/>
            <a:ext cx="5715000" cy="87630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630025" y="7390954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11830050" y="7305229"/>
            <a:ext cx="526837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del 22,8 % sobre la media: requiere justificación documental antes de adjudicar.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70200"/>
            <a:ext cx="13538835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588"/>
              </a:lnSpc>
              <a:buNone/>
            </a:pPr>
            <a:r>
              <a:rPr lang="en-US" sz="6600" b="1" spc="-23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Adjudicar proyecto y generar contrato con firma digital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1143000" y="5563642"/>
            <a:ext cx="5156150" cy="1453009"/>
          </a:xfrm>
          <a:prstGeom prst="roundRect">
            <a:avLst>
              <a:gd name="adj" fmla="val 10489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57325" y="5897017"/>
            <a:ext cx="4980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ofertas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457325" y="6420892"/>
            <a:ext cx="498025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Recibidas sobre el mismo pliego y la misma medición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565850" y="5563642"/>
            <a:ext cx="5156150" cy="1453009"/>
          </a:xfrm>
          <a:prstGeom prst="roundRect">
            <a:avLst>
              <a:gd name="adj" fmla="val 10489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80175" y="5897017"/>
            <a:ext cx="4980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231.500 €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80175" y="6420892"/>
            <a:ext cx="498025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total, pendiente de justificar la baja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988701" y="5563642"/>
            <a:ext cx="5156150" cy="1453009"/>
          </a:xfrm>
          <a:prstGeom prst="roundRect">
            <a:avLst>
              <a:gd name="adj" fmla="val 10489"/>
            </a:avLst>
          </a:prstGeom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03026" y="5897017"/>
            <a:ext cx="4980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−4,2 %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303026" y="6420892"/>
            <a:ext cx="498025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Desviación media frente al presupuesto base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2026-08-22T11:34:33Z</dcterms:created>
  <dcterms:modified xsi:type="dcterms:W3CDTF">2026-08-22T11:34:33Z</dcterms:modified>
</cp:coreProperties>
</file>